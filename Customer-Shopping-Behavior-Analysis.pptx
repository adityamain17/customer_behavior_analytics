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SemiBold"/>
      <p:regular r:id="rId201316"/>
    </p:embeddedFont>
    <p:embeddedFont>
      <p:font typeface="DM Sans Bold"/>
      <p:regular r:id="rId201317"/>
    </p:embeddedFont>
    <p:embeddedFont>
      <p:font typeface="DM Sans Black"/>
      <p:regular r:id="rId201318"/>
    </p:embeddedFont>
    <p:embeddedFont>
      <p:font typeface="Inter Medium"/>
      <p:regular r:id="rId201319"/>
    </p:embeddedFont>
    <p:embeddedFont>
      <p:font typeface="Inter SemiBold"/>
      <p:regular r:id="rId201320"/>
    </p:embeddedFont>
    <p:embeddedFont>
      <p:font typeface="Inter Bold"/>
      <p:regular r:id="rId201321"/>
    </p:embeddedFont>
    <p:embeddedFont>
      <p:font typeface="Inter"/>
      <p:regular r:id="rId201322"/>
    </p:embeddedFont>
    <p:embeddedFont>
      <p:font typeface="Inter Black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Insights for Strategic Growth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5858"/>
            <a:ext cx="6928470" cy="39261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85421" y="722015"/>
            <a:ext cx="1245363" cy="242292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4" name="Text 1"/>
          <p:cNvSpPr/>
          <p:nvPr/>
        </p:nvSpPr>
        <p:spPr>
          <a:xfrm>
            <a:off x="8081066" y="769838"/>
            <a:ext cx="166365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985421" y="1018084"/>
            <a:ext cx="3551049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Business Challenge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8478725" y="2220913"/>
            <a:ext cx="305774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Shifting Patterns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78725" y="2604591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company seeking to understand evolving customer purchasing behavior across segments.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78725" y="3633887"/>
            <a:ext cx="305774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Drivers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78725" y="4017566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what truly moves the needle on sales, satisfaction, and repeat purchases.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78725" y="5046861"/>
            <a:ext cx="305774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Strategic Goal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78725" y="5430540"/>
            <a:ext cx="305774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marketing, product strategy, and customer engagement for measurable growth.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94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Transactions Analyzed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Spanning multiple product categories and customer segments.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purchase details, and behavioral signals.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Unified Database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14119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cleaned and integrated with MySQL for structured, reliable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76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Revenue Split: Male vs. Female Customers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88492"/>
            <a:ext cx="5211037" cy="37509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25533" y="1588492"/>
            <a:ext cx="1655523" cy="27811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35366" y="1643360"/>
            <a:ext cx="204544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ANALYSIS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25533" y="1937544"/>
            <a:ext cx="521103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 Clear Gender Gap in Spending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6325533" y="3030240"/>
            <a:ext cx="5211037" cy="1890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account for </a:t>
            </a:r>
            <a:pPr algn="l" indent="0" marL="0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$157,890 — 67.7% of total revenue</a:t>
            </a:r>
            <a:pPr algn="l" indent="0" marL="0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female customers contribute $75,191, or 32.3%.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disparity signals a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28282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significant, untapped opportunity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expand acquisition and engagement strategies targeting the female customer segment.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25533" y="5119985"/>
            <a:ext cx="5211037" cy="987623"/>
          </a:xfrm>
          <a:prstGeom prst="roundRect">
            <a:avLst>
              <a:gd name="adj" fmla="val 2781"/>
            </a:avLst>
          </a:prstGeom>
          <a:solidFill>
            <a:srgbClr val="E3E3E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87" y="5392341"/>
            <a:ext cx="228793" cy="1830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0434" y="5325368"/>
            <a:ext cx="443308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even half the gender revenue gap could add ~$40K+ in incremental revenue.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05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Age &amp; Spending Patterns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070497"/>
            <a:ext cx="3053877" cy="2298799"/>
          </a:xfrm>
          <a:prstGeom prst="roundRect">
            <a:avLst>
              <a:gd name="adj" fmla="val 1233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5422367" y="2259509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Average Customer Age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2668191"/>
            <a:ext cx="2675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 years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with a broad range from 18 to 70, indicating a multigenerational customer base requiring tailored engagement.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070497"/>
            <a:ext cx="3053976" cy="2298799"/>
          </a:xfrm>
          <a:prstGeom prst="roundRect">
            <a:avLst>
              <a:gd name="adj" fmla="val 1233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8665251" y="2259509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Average Purchase Value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5251" y="2668191"/>
            <a:ext cx="26759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 per transaction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stable baseline that masks meaningful variation across age cohorts and product categories.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58308"/>
            <a:ext cx="6296860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11" name="Text 8"/>
          <p:cNvSpPr/>
          <p:nvPr/>
        </p:nvSpPr>
        <p:spPr>
          <a:xfrm>
            <a:off x="5422367" y="4747320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Segmentation Opportunity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5156002"/>
            <a:ext cx="59188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Age-based analysis reveals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distinct spending behaviors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targeted campaigns by demographic cohort can materially lift conversion rates.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60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Subscription Impact on Revenue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61475" y="1500287"/>
            <a:ext cx="1927971" cy="260152"/>
          </a:xfrm>
          <a:prstGeom prst="roundRect">
            <a:avLst>
              <a:gd name="adj" fmla="val 7901"/>
            </a:avLst>
          </a:prstGeom>
          <a:solidFill>
            <a:srgbClr val="E3E3E8"/>
          </a:solidFill>
          <a:ln/>
        </p:spPr>
      </p:sp>
      <p:sp>
        <p:nvSpPr>
          <p:cNvPr id="4" name="Text 2"/>
          <p:cNvSpPr/>
          <p:nvPr/>
        </p:nvSpPr>
        <p:spPr>
          <a:xfrm>
            <a:off x="764164" y="1551583"/>
            <a:ext cx="2332178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ANALYSIS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1822450"/>
            <a:ext cx="5225423" cy="856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Non-Subscribers Drive 73% of Revenue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661475" y="2834084"/>
            <a:ext cx="5225423" cy="1968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2,847 non-subscribers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generating $170,436 at a $59.87 average spend, the bulk of revenue comes from customers yet to be enrolled in a subscription model.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(1,053 customers) generate $62,645 at a comparable $59.49 average — demonstrating that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spend per transaction is nearly identical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conversion the primary growth lever.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977110"/>
            <a:ext cx="5225423" cy="1148655"/>
          </a:xfrm>
          <a:prstGeom prst="roundRect">
            <a:avLst>
              <a:gd name="adj" fmla="val 2237"/>
            </a:avLst>
          </a:prstGeom>
          <a:solidFill>
            <a:srgbClr val="E3E3E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722" y="5215632"/>
            <a:ext cx="214109" cy="1712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8078" y="5159573"/>
            <a:ext cx="449757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Converting non-subscribers unlocks predictable, recurring revenue without requiring new customer acquisition.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147" y="1500287"/>
            <a:ext cx="5225423" cy="3761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1061"/>
            <a:ext cx="6296860" cy="97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Top-Performing Products by Rating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3727"/>
            <a:ext cx="3083642" cy="2039441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9387" y="1864519"/>
            <a:ext cx="187816" cy="18782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36988" y="2349798"/>
            <a:ext cx="273261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Gloves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836988" y="2672060"/>
            <a:ext cx="2732614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3.86 rating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top-ranked product. Strong candidate for featured placement and bundling strategies.</a:t>
            </a:r>
            <a:endParaRPr lang="en-US" sz="12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4693" y="1723727"/>
            <a:ext cx="3083642" cy="2039441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2606" y="1864519"/>
            <a:ext cx="187816" cy="18782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050206" y="2349798"/>
            <a:ext cx="273261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Sandals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4050206" y="2672060"/>
            <a:ext cx="2732614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3.84 rating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high seasonal demand. Ideal for targeted summer campaigns and cross-sell opportunities.</a:t>
            </a:r>
            <a:endParaRPr lang="en-US" sz="12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3892748"/>
            <a:ext cx="6296860" cy="1581646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15996" y="4033540"/>
            <a:ext cx="187816" cy="187821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36988" y="4518819"/>
            <a:ext cx="5945833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Boots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836988" y="4841081"/>
            <a:ext cx="5945833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3.82 rating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consistently well-rated. Proven driver of repeat purchases and customer loyalty.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661475" y="5620147"/>
            <a:ext cx="6296860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High-rated products correlate directly with customer satisfaction and repeat purchase rates — </a:t>
            </a:r>
            <a:pPr algn="ctr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prioritizing inventory and marketing investment here maximizes ROI.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Discount Strategy Effectiveness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21058" y="2994323"/>
            <a:ext cx="930549" cy="147935"/>
          </a:xfrm>
          <a:prstGeom prst="roundRect">
            <a:avLst>
              <a:gd name="adj" fmla="val 7906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9497" y="3023493"/>
            <a:ext cx="1423257" cy="89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ANALYSIS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221058" y="3162300"/>
            <a:ext cx="5315512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Discounts Drive Volume — But at What Cost?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21058" y="3456186"/>
            <a:ext cx="5315512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839 high-spending customers</a:t>
            </a:r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discounts yet still exceeded the average purchase amount, suggesting discounts are not eroding basket size for premium buyers.</a:t>
            </a:r>
            <a:endParaRPr lang="en-US" sz="750" dirty="0"/>
          </a:p>
          <a:p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 </a:t>
            </a:r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Hats carry a 50% discount rate</a:t>
            </a:r>
            <a:pPr algn="l" indent="0" marL="0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highest promotional dependency across all categories — pointing to a margin risk that warrants immediate review.</a:t>
            </a:r>
            <a:endParaRPr lang="en-US" sz="7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 is clear: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28282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 discount reliance on high-rated, high-demand products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preserving volume through loyalty and subscription incentives.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89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Shipping Preference &amp; Purchase Value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57574"/>
            <a:ext cx="10868745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2657574"/>
            <a:ext cx="3622882" cy="1693962"/>
          </a:xfrm>
          <a:custGeom>
            <a:avLst/>
            <a:gdLst/>
            <a:ahLst/>
            <a:cxnLst/>
            <a:rect l="l" t="t" r="r" b="b"/>
            <a:pathLst>
              <a:path w="3622882" h="1693962">
                <a:moveTo>
                  <a:pt x="23627" y="0"/>
                </a:moveTo>
                <a:lnTo>
                  <a:pt x="3622882" y="0"/>
                </a:lnTo>
                <a:lnTo>
                  <a:pt x="3622882" y="1693962"/>
                </a:lnTo>
                <a:lnTo>
                  <a:pt x="23627" y="1693962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EDEBE3"/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284658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Express Shipping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255268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purchase value per order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4357" y="2657574"/>
            <a:ext cx="3622882" cy="1693962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8" name="Shape 6"/>
          <p:cNvSpPr/>
          <p:nvPr/>
        </p:nvSpPr>
        <p:spPr>
          <a:xfrm>
            <a:off x="4284357" y="2657574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D3D1C9"/>
          </a:solidFill>
          <a:ln/>
        </p:spPr>
      </p:sp>
      <p:sp>
        <p:nvSpPr>
          <p:cNvPr id="9" name="Text 7"/>
          <p:cNvSpPr/>
          <p:nvPr/>
        </p:nvSpPr>
        <p:spPr>
          <a:xfrm>
            <a:off x="4473364" y="284658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Standard Shipping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3364" y="3255268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average purchase value per order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7239" y="2657574"/>
            <a:ext cx="3622882" cy="1693962"/>
          </a:xfrm>
          <a:custGeom>
            <a:avLst/>
            <a:gdLst/>
            <a:ahLst/>
            <a:cxnLst/>
            <a:rect l="l" t="t" r="r" b="b"/>
            <a:pathLst>
              <a:path w="3622882" h="1693962">
                <a:moveTo>
                  <a:pt x="0" y="0"/>
                </a:moveTo>
                <a:lnTo>
                  <a:pt x="3599255" y="0"/>
                </a:lnTo>
                <a:arcTo hR="23628" wR="23627" stAng="16200000" swAng="5400000"/>
                <a:lnTo>
                  <a:pt x="3622882" y="1670334"/>
                </a:lnTo>
                <a:arcTo hR="23628" wR="23627" stAng="0" swAng="5400000"/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DEBE3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7239" y="2657574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D3D1C9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46" y="284658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Premium Uplift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6246" y="3255268"/>
            <a:ext cx="324486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+3.5%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higher spend among express users — premium service self-selects higher-value orders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56416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customers represent a </a:t>
            </a:r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higher-value segment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Upsell campaigns and express-tier loyalty perks can further increase average order value and strengthen retention.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318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Recommendations</a:t>
            </a:r>
            <a:endParaRPr lang="en-US" sz="3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85" y="1311970"/>
            <a:ext cx="248041" cy="2480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98830" y="1306909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Expand Female Customer Acquisition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198830" y="1652191"/>
            <a:ext cx="575950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customers represent only 32.3% of revenue. Targeted campaigns, curated product recommendations, and segment-specific promotions can close the gap.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485" y="2690813"/>
            <a:ext cx="248041" cy="2480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98830" y="2685752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Convert Non-Subscribers to Membership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198830" y="3031034"/>
            <a:ext cx="575950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73% of revenue from non-subscribers at nearly identical spend rates, structured conversion incentives will unlock predictable, recurring revenue.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485" y="4069655"/>
            <a:ext cx="248041" cy="2480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8830" y="4064595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Optimize the Discount Strategy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198830" y="4409877"/>
            <a:ext cx="575950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promotional dependency on high-rated products like Hats. Redirect discount spend toward loyalty and subscription conversion programs.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485" y="5448498"/>
            <a:ext cx="248041" cy="24804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98830" y="5443438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Leverage Shipping Preferences for Upsell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1198830" y="5788720"/>
            <a:ext cx="575950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users spend 3.5% more. Promote premium shipping tiers at checkout to attract and retain higher-value customers.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2026-09-08T17:12:55Z</dcterms:created>
  <dcterms:modified xsi:type="dcterms:W3CDTF">2026-09-08T17:12:55Z</dcterms:modified>
</cp:coreProperties>
</file>